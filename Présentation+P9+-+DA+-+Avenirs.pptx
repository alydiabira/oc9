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Space Mono"/>
      <p:regular r:id="rId16"/>
      <p:bold r:id="rId17"/>
      <p:italic r:id="rId18"/>
      <p:boldItalic r:id="rId19"/>
    </p:embeddedFont>
    <p:embeddedFont>
      <p:font typeface="Inter"/>
      <p:regular r:id="rId20"/>
      <p:bold r:id="rId21"/>
      <p:italic r:id="rId22"/>
      <p:boldItalic r:id="rId23"/>
    </p:embeddedFont>
    <p:embeddedFont>
      <p:font typeface="Open Sans SemiBold"/>
      <p:regular r:id="rId24"/>
      <p:bold r:id="rId25"/>
      <p:italic r:id="rId26"/>
      <p:boldItalic r:id="rId27"/>
    </p:embeddedFont>
    <p:embeddedFont>
      <p:font typeface="Open Sans Medium"/>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regular.fntdata"/><Relationship Id="rId22" Type="http://schemas.openxmlformats.org/officeDocument/2006/relationships/font" Target="fonts/Inter-italic.fntdata"/><Relationship Id="rId21" Type="http://schemas.openxmlformats.org/officeDocument/2006/relationships/font" Target="fonts/Inter-bold.fntdata"/><Relationship Id="rId24" Type="http://schemas.openxmlformats.org/officeDocument/2006/relationships/font" Target="fonts/OpenSansSemiBold-regular.fntdata"/><Relationship Id="rId23"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SemiBold-italic.fntdata"/><Relationship Id="rId25" Type="http://schemas.openxmlformats.org/officeDocument/2006/relationships/font" Target="fonts/OpenSansSemiBold-bold.fntdata"/><Relationship Id="rId28" Type="http://schemas.openxmlformats.org/officeDocument/2006/relationships/font" Target="fonts/OpenSansMedium-regular.fntdata"/><Relationship Id="rId27" Type="http://schemas.openxmlformats.org/officeDocument/2006/relationships/font" Target="fonts/OpenSans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Medium-boldItalic.fntdata"/><Relationship Id="rId30" Type="http://schemas.openxmlformats.org/officeDocument/2006/relationships/font" Target="fonts/OpenSansMedium-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SpaceMono-bold.fntdata"/><Relationship Id="rId16" Type="http://schemas.openxmlformats.org/officeDocument/2006/relationships/font" Target="fonts/SpaceMono-regular.fntdata"/><Relationship Id="rId19" Type="http://schemas.openxmlformats.org/officeDocument/2006/relationships/font" Target="fonts/SpaceMono-boldItalic.fntdata"/><Relationship Id="rId18" Type="http://schemas.openxmlformats.org/officeDocument/2006/relationships/font" Target="fonts/SpaceMon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970ee3100b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970ee3100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984e2e44d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984e2e44d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5ddf91a0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5ddf91a0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984e2e44d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984e2e44d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984e2e44d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984e2e44d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984e2e44d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984e2e44d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984e2e44d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984e2e44d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984e2e44d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984e2e44d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984e2e44d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984e2e44d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970ee3100b_1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970ee3100b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200"/>
              </a:spcBef>
              <a:spcAft>
                <a:spcPts val="0"/>
              </a:spcAft>
              <a:buClr>
                <a:schemeClr val="dk1"/>
              </a:buClr>
              <a:buSzPts val="1400"/>
              <a:buChar char="○"/>
              <a:defRPr/>
            </a:lvl2pPr>
            <a:lvl3pPr indent="-317500" lvl="2" marL="1371600" rtl="0" algn="l">
              <a:lnSpc>
                <a:spcPct val="90000"/>
              </a:lnSpc>
              <a:spcBef>
                <a:spcPts val="1200"/>
              </a:spcBef>
              <a:spcAft>
                <a:spcPts val="0"/>
              </a:spcAft>
              <a:buClr>
                <a:schemeClr val="dk1"/>
              </a:buClr>
              <a:buSzPts val="1400"/>
              <a:buChar char="■"/>
              <a:defRPr/>
            </a:lvl3pPr>
            <a:lvl4pPr indent="-317500" lvl="3" marL="1828800" rtl="0" algn="l">
              <a:lnSpc>
                <a:spcPct val="90000"/>
              </a:lnSpc>
              <a:spcBef>
                <a:spcPts val="1200"/>
              </a:spcBef>
              <a:spcAft>
                <a:spcPts val="0"/>
              </a:spcAft>
              <a:buClr>
                <a:schemeClr val="dk1"/>
              </a:buClr>
              <a:buSzPts val="1400"/>
              <a:buChar char="●"/>
              <a:defRPr/>
            </a:lvl4pPr>
            <a:lvl5pPr indent="-317500" lvl="4" marL="2286000" rtl="0" algn="l">
              <a:lnSpc>
                <a:spcPct val="90000"/>
              </a:lnSpc>
              <a:spcBef>
                <a:spcPts val="1200"/>
              </a:spcBef>
              <a:spcAft>
                <a:spcPts val="0"/>
              </a:spcAft>
              <a:buClr>
                <a:schemeClr val="dk1"/>
              </a:buClr>
              <a:buSzPts val="1400"/>
              <a:buChar char="○"/>
              <a:defRPr/>
            </a:lvl5pPr>
            <a:lvl6pPr indent="-317500" lvl="5" marL="2743200" rtl="0" algn="l">
              <a:lnSpc>
                <a:spcPct val="90000"/>
              </a:lnSpc>
              <a:spcBef>
                <a:spcPts val="1200"/>
              </a:spcBef>
              <a:spcAft>
                <a:spcPts val="0"/>
              </a:spcAft>
              <a:buClr>
                <a:schemeClr val="dk1"/>
              </a:buClr>
              <a:buSzPts val="1400"/>
              <a:buChar char="■"/>
              <a:defRPr/>
            </a:lvl6pPr>
            <a:lvl7pPr indent="-317500" lvl="6" marL="3200400" rtl="0" algn="l">
              <a:lnSpc>
                <a:spcPct val="90000"/>
              </a:lnSpc>
              <a:spcBef>
                <a:spcPts val="1200"/>
              </a:spcBef>
              <a:spcAft>
                <a:spcPts val="0"/>
              </a:spcAft>
              <a:buClr>
                <a:schemeClr val="dk1"/>
              </a:buClr>
              <a:buSzPts val="1400"/>
              <a:buChar char="●"/>
              <a:defRPr/>
            </a:lvl7pPr>
            <a:lvl8pPr indent="-317500" lvl="7" marL="3657600" rtl="0" algn="l">
              <a:lnSpc>
                <a:spcPct val="90000"/>
              </a:lnSpc>
              <a:spcBef>
                <a:spcPts val="1200"/>
              </a:spcBef>
              <a:spcAft>
                <a:spcPts val="0"/>
              </a:spcAft>
              <a:buClr>
                <a:schemeClr val="dk1"/>
              </a:buClr>
              <a:buSzPts val="1400"/>
              <a:buChar char="○"/>
              <a:defRPr/>
            </a:lvl8pPr>
            <a:lvl9pPr indent="-317500" lvl="8" marL="4114800" rtl="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59"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2749021" y="1823576"/>
            <a:ext cx="3645957" cy="909714"/>
          </a:xfrm>
          <a:prstGeom prst="rect">
            <a:avLst/>
          </a:prstGeom>
          <a:noFill/>
          <a:ln>
            <a:noFill/>
          </a:ln>
        </p:spPr>
      </p:pic>
      <p:sp>
        <p:nvSpPr>
          <p:cNvPr id="61" name="Google Shape;61;p14"/>
          <p:cNvSpPr/>
          <p:nvPr/>
        </p:nvSpPr>
        <p:spPr>
          <a:xfrm>
            <a:off x="2749052" y="4215425"/>
            <a:ext cx="3645900" cy="375900"/>
          </a:xfrm>
          <a:prstGeom prst="rect">
            <a:avLst/>
          </a:prstGeom>
          <a:solidFill>
            <a:srgbClr val="00000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 name="Google Shape;62;p14"/>
          <p:cNvSpPr txBox="1"/>
          <p:nvPr/>
        </p:nvSpPr>
        <p:spPr>
          <a:xfrm>
            <a:off x="3060275" y="4234025"/>
            <a:ext cx="3023700" cy="3387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fr" sz="1300">
                <a:solidFill>
                  <a:schemeClr val="lt1"/>
                </a:solidFill>
                <a:latin typeface="Space Mono"/>
                <a:ea typeface="Space Mono"/>
                <a:cs typeface="Space Mono"/>
                <a:sym typeface="Space Mono"/>
              </a:rPr>
              <a:t>Plateforme de tutorat</a:t>
            </a:r>
            <a:endParaRPr sz="1300">
              <a:solidFill>
                <a:schemeClr val="lt1"/>
              </a:solidFill>
              <a:latin typeface="Space Mono"/>
              <a:ea typeface="Space Mono"/>
              <a:cs typeface="Space Mono"/>
              <a:sym typeface="Space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body"/>
          </p:nvPr>
        </p:nvSpPr>
        <p:spPr>
          <a:xfrm>
            <a:off x="311700" y="1131125"/>
            <a:ext cx="8520600" cy="3416400"/>
          </a:xfrm>
          <a:prstGeom prst="rect">
            <a:avLst/>
          </a:prstGeom>
        </p:spPr>
        <p:txBody>
          <a:bodyPr anchorCtr="0" anchor="t" bIns="91425" lIns="91425" spcFirstLastPara="1" rIns="91425" wrap="square" tIns="91425">
            <a:normAutofit/>
          </a:bodyPr>
          <a:lstStyle/>
          <a:p>
            <a:pPr indent="-330200" lvl="0" marL="457200" rtl="0" algn="l">
              <a:lnSpc>
                <a:spcPct val="115000"/>
              </a:lnSpc>
              <a:spcBef>
                <a:spcPts val="1000"/>
              </a:spcBef>
              <a:spcAft>
                <a:spcPts val="0"/>
              </a:spcAft>
              <a:buClr>
                <a:schemeClr val="dk1"/>
              </a:buClr>
              <a:buSzPts val="1600"/>
              <a:buFont typeface="Open Sans Medium"/>
              <a:buAutoNum type="arabicPeriod"/>
            </a:pPr>
            <a:r>
              <a:rPr lang="fr" sz="1600">
                <a:solidFill>
                  <a:schemeClr val="dk1"/>
                </a:solidFill>
                <a:latin typeface="Open Sans Medium"/>
                <a:ea typeface="Open Sans Medium"/>
                <a:cs typeface="Open Sans Medium"/>
                <a:sym typeface="Open Sans Medium"/>
              </a:rPr>
              <a:t>Introduction au projet et contexte</a:t>
            </a:r>
            <a:endParaRPr sz="1600">
              <a:solidFill>
                <a:schemeClr val="dk1"/>
              </a:solidFill>
              <a:latin typeface="Open Sans Medium"/>
              <a:ea typeface="Open Sans Medium"/>
              <a:cs typeface="Open Sans Medium"/>
              <a:sym typeface="Open Sans Medium"/>
            </a:endParaRPr>
          </a:p>
          <a:p>
            <a:pPr indent="-330200" lvl="0" marL="457200" rtl="0" algn="l">
              <a:lnSpc>
                <a:spcPct val="115000"/>
              </a:lnSpc>
              <a:spcBef>
                <a:spcPts val="1200"/>
              </a:spcBef>
              <a:spcAft>
                <a:spcPts val="0"/>
              </a:spcAft>
              <a:buClr>
                <a:schemeClr val="dk1"/>
              </a:buClr>
              <a:buSzPts val="1600"/>
              <a:buFont typeface="Open Sans Medium"/>
              <a:buAutoNum type="arabicPeriod"/>
            </a:pPr>
            <a:r>
              <a:rPr lang="fr" sz="1600">
                <a:solidFill>
                  <a:schemeClr val="dk1"/>
                </a:solidFill>
                <a:latin typeface="Open Sans Medium"/>
                <a:ea typeface="Open Sans Medium"/>
                <a:cs typeface="Open Sans Medium"/>
                <a:sym typeface="Open Sans Medium"/>
              </a:rPr>
              <a:t>Objectifs du projet</a:t>
            </a:r>
            <a:endParaRPr sz="1600">
              <a:solidFill>
                <a:schemeClr val="dk1"/>
              </a:solidFill>
              <a:latin typeface="Open Sans Medium"/>
              <a:ea typeface="Open Sans Medium"/>
              <a:cs typeface="Open Sans Medium"/>
              <a:sym typeface="Open Sans Medium"/>
            </a:endParaRPr>
          </a:p>
          <a:p>
            <a:pPr indent="-330200" lvl="0" marL="457200" rtl="0" algn="l">
              <a:lnSpc>
                <a:spcPct val="115000"/>
              </a:lnSpc>
              <a:spcBef>
                <a:spcPts val="1000"/>
              </a:spcBef>
              <a:spcAft>
                <a:spcPts val="0"/>
              </a:spcAft>
              <a:buClr>
                <a:schemeClr val="dk1"/>
              </a:buClr>
              <a:buSzPts val="1600"/>
              <a:buFont typeface="Open Sans Medium"/>
              <a:buAutoNum type="arabicPeriod"/>
            </a:pPr>
            <a:r>
              <a:rPr lang="fr" sz="1600">
                <a:solidFill>
                  <a:schemeClr val="dk1"/>
                </a:solidFill>
                <a:latin typeface="Open Sans Medium"/>
                <a:ea typeface="Open Sans Medium"/>
                <a:cs typeface="Open Sans Medium"/>
                <a:sym typeface="Open Sans Medium"/>
              </a:rPr>
              <a:t>Fonctionnalités du site</a:t>
            </a:r>
            <a:endParaRPr sz="1600">
              <a:solidFill>
                <a:schemeClr val="dk1"/>
              </a:solidFill>
              <a:latin typeface="Open Sans Medium"/>
              <a:ea typeface="Open Sans Medium"/>
              <a:cs typeface="Open Sans Medium"/>
              <a:sym typeface="Open Sans Medium"/>
            </a:endParaRPr>
          </a:p>
          <a:p>
            <a:pPr indent="-330200" lvl="0" marL="457200" rtl="0" algn="l">
              <a:lnSpc>
                <a:spcPct val="115000"/>
              </a:lnSpc>
              <a:spcBef>
                <a:spcPts val="1000"/>
              </a:spcBef>
              <a:spcAft>
                <a:spcPts val="0"/>
              </a:spcAft>
              <a:buClr>
                <a:schemeClr val="dk1"/>
              </a:buClr>
              <a:buSzPts val="1600"/>
              <a:buFont typeface="Open Sans Medium"/>
              <a:buAutoNum type="arabicPeriod"/>
            </a:pPr>
            <a:r>
              <a:rPr lang="fr" sz="1600">
                <a:solidFill>
                  <a:schemeClr val="dk1"/>
                </a:solidFill>
                <a:latin typeface="Open Sans Medium"/>
                <a:ea typeface="Open Sans Medium"/>
                <a:cs typeface="Open Sans Medium"/>
                <a:sym typeface="Open Sans Medium"/>
              </a:rPr>
              <a:t>Interface utilisateur </a:t>
            </a:r>
            <a:endParaRPr sz="1600">
              <a:solidFill>
                <a:schemeClr val="dk1"/>
              </a:solidFill>
              <a:latin typeface="Open Sans Medium"/>
              <a:ea typeface="Open Sans Medium"/>
              <a:cs typeface="Open Sans Medium"/>
              <a:sym typeface="Open Sans Medium"/>
            </a:endParaRPr>
          </a:p>
          <a:p>
            <a:pPr indent="-330200" lvl="0" marL="457200" rtl="0" algn="l">
              <a:lnSpc>
                <a:spcPct val="115000"/>
              </a:lnSpc>
              <a:spcBef>
                <a:spcPts val="1000"/>
              </a:spcBef>
              <a:spcAft>
                <a:spcPts val="0"/>
              </a:spcAft>
              <a:buClr>
                <a:schemeClr val="dk1"/>
              </a:buClr>
              <a:buSzPts val="1600"/>
              <a:buFont typeface="Open Sans Medium"/>
              <a:buAutoNum type="arabicPeriod"/>
            </a:pPr>
            <a:r>
              <a:rPr lang="fr" sz="1600">
                <a:solidFill>
                  <a:schemeClr val="dk1"/>
                </a:solidFill>
                <a:latin typeface="Open Sans Medium"/>
                <a:ea typeface="Open Sans Medium"/>
                <a:cs typeface="Open Sans Medium"/>
                <a:sym typeface="Open Sans Medium"/>
              </a:rPr>
              <a:t>Sécurité des données</a:t>
            </a:r>
            <a:endParaRPr sz="1600">
              <a:solidFill>
                <a:schemeClr val="dk1"/>
              </a:solidFill>
              <a:latin typeface="Open Sans Medium"/>
              <a:ea typeface="Open Sans Medium"/>
              <a:cs typeface="Open Sans Medium"/>
              <a:sym typeface="Open Sans Medium"/>
            </a:endParaRPr>
          </a:p>
          <a:p>
            <a:pPr indent="-330200" lvl="0" marL="457200" rtl="0" algn="l">
              <a:lnSpc>
                <a:spcPct val="115000"/>
              </a:lnSpc>
              <a:spcBef>
                <a:spcPts val="1000"/>
              </a:spcBef>
              <a:spcAft>
                <a:spcPts val="0"/>
              </a:spcAft>
              <a:buClr>
                <a:schemeClr val="dk1"/>
              </a:buClr>
              <a:buSzPts val="1600"/>
              <a:buFont typeface="Open Sans Medium"/>
              <a:buAutoNum type="arabicPeriod"/>
            </a:pPr>
            <a:r>
              <a:rPr lang="fr" sz="1600">
                <a:solidFill>
                  <a:schemeClr val="dk1"/>
                </a:solidFill>
                <a:latin typeface="Open Sans Medium"/>
                <a:ea typeface="Open Sans Medium"/>
                <a:cs typeface="Open Sans Medium"/>
                <a:sym typeface="Open Sans Medium"/>
              </a:rPr>
              <a:t>Plan de mise en oeuvre </a:t>
            </a:r>
            <a:endParaRPr sz="1600">
              <a:solidFill>
                <a:schemeClr val="dk1"/>
              </a:solidFill>
              <a:latin typeface="Open Sans Medium"/>
              <a:ea typeface="Open Sans Medium"/>
              <a:cs typeface="Open Sans Medium"/>
              <a:sym typeface="Open Sans Medium"/>
            </a:endParaRPr>
          </a:p>
          <a:p>
            <a:pPr indent="-330200" lvl="0" marL="457200" rtl="0" algn="l">
              <a:lnSpc>
                <a:spcPct val="115000"/>
              </a:lnSpc>
              <a:spcBef>
                <a:spcPts val="1000"/>
              </a:spcBef>
              <a:spcAft>
                <a:spcPts val="1200"/>
              </a:spcAft>
              <a:buClr>
                <a:schemeClr val="dk1"/>
              </a:buClr>
              <a:buSzPts val="1600"/>
              <a:buFont typeface="Open Sans Medium"/>
              <a:buAutoNum type="arabicPeriod"/>
            </a:pPr>
            <a:r>
              <a:rPr lang="fr" sz="1600">
                <a:solidFill>
                  <a:schemeClr val="dk1"/>
                </a:solidFill>
                <a:latin typeface="Open Sans Medium"/>
                <a:ea typeface="Open Sans Medium"/>
                <a:cs typeface="Open Sans Medium"/>
                <a:sym typeface="Open Sans Medium"/>
              </a:rPr>
              <a:t>Questions et réponses</a:t>
            </a:r>
            <a:endParaRPr sz="1600">
              <a:solidFill>
                <a:schemeClr val="dk1"/>
              </a:solidFill>
              <a:latin typeface="Open Sans Medium"/>
              <a:ea typeface="Open Sans Medium"/>
              <a:cs typeface="Open Sans Medium"/>
              <a:sym typeface="Open Sans Medium"/>
            </a:endParaRPr>
          </a:p>
        </p:txBody>
      </p:sp>
      <p:sp>
        <p:nvSpPr>
          <p:cNvPr id="68" name="Google Shape;68;p15"/>
          <p:cNvSpPr txBox="1"/>
          <p:nvPr/>
        </p:nvSpPr>
        <p:spPr>
          <a:xfrm>
            <a:off x="311700" y="250575"/>
            <a:ext cx="74778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rPr b="1" lang="fr" sz="2600">
                <a:solidFill>
                  <a:schemeClr val="dk1"/>
                </a:solidFill>
                <a:latin typeface="Space Mono"/>
                <a:ea typeface="Space Mono"/>
                <a:cs typeface="Space Mono"/>
                <a:sym typeface="Space Mono"/>
              </a:rPr>
              <a:t>Sommaire</a:t>
            </a:r>
            <a:endParaRPr b="1" sz="2600">
              <a:solidFill>
                <a:schemeClr val="dk1"/>
              </a:solidFill>
              <a:latin typeface="Space Mono"/>
              <a:ea typeface="Space Mono"/>
              <a:cs typeface="Space Mono"/>
              <a:sym typeface="Space Mono"/>
            </a:endParaRPr>
          </a:p>
        </p:txBody>
      </p:sp>
      <p:sp>
        <p:nvSpPr>
          <p:cNvPr id="69" name="Google Shape;69;p15"/>
          <p:cNvSpPr txBox="1"/>
          <p:nvPr/>
        </p:nvSpPr>
        <p:spPr>
          <a:xfrm>
            <a:off x="311700" y="701513"/>
            <a:ext cx="63906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t/>
            </a:r>
            <a:endParaRPr>
              <a:solidFill>
                <a:schemeClr val="dk1"/>
              </a:solidFill>
              <a:latin typeface="Open Sans SemiBold"/>
              <a:ea typeface="Open Sans SemiBold"/>
              <a:cs typeface="Open Sans SemiBold"/>
              <a:sym typeface="Open Sans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311700" y="14159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1"/>
              </a:solidFill>
              <a:latin typeface="Open Sans Medium"/>
              <a:ea typeface="Open Sans Medium"/>
              <a:cs typeface="Open Sans Medium"/>
              <a:sym typeface="Open Sans Medium"/>
            </a:endParaRPr>
          </a:p>
        </p:txBody>
      </p:sp>
      <p:sp>
        <p:nvSpPr>
          <p:cNvPr id="75" name="Google Shape;75;p16"/>
          <p:cNvSpPr txBox="1"/>
          <p:nvPr/>
        </p:nvSpPr>
        <p:spPr>
          <a:xfrm>
            <a:off x="311700" y="250575"/>
            <a:ext cx="74778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rPr b="1" lang="fr" sz="2600">
                <a:solidFill>
                  <a:schemeClr val="dk1"/>
                </a:solidFill>
                <a:latin typeface="Space Mono"/>
                <a:ea typeface="Space Mono"/>
                <a:cs typeface="Space Mono"/>
                <a:sym typeface="Space Mono"/>
              </a:rPr>
              <a:t>Introduction au projet et contexte</a:t>
            </a:r>
            <a:endParaRPr b="1" sz="2600">
              <a:solidFill>
                <a:schemeClr val="dk1"/>
              </a:solidFill>
              <a:latin typeface="Space Mono"/>
              <a:ea typeface="Space Mono"/>
              <a:cs typeface="Space Mono"/>
              <a:sym typeface="Space Mono"/>
            </a:endParaRPr>
          </a:p>
        </p:txBody>
      </p:sp>
      <p:sp>
        <p:nvSpPr>
          <p:cNvPr id="76" name="Google Shape;76;p16"/>
          <p:cNvSpPr txBox="1"/>
          <p:nvPr/>
        </p:nvSpPr>
        <p:spPr>
          <a:xfrm>
            <a:off x="311700" y="701513"/>
            <a:ext cx="63906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t/>
            </a:r>
            <a:endParaRPr>
              <a:solidFill>
                <a:schemeClr val="dk1"/>
              </a:solidFill>
              <a:latin typeface="Open Sans SemiBold"/>
              <a:ea typeface="Open Sans SemiBold"/>
              <a:cs typeface="Open Sans SemiBold"/>
              <a:sym typeface="Open Sans SemiBold"/>
            </a:endParaRPr>
          </a:p>
        </p:txBody>
      </p:sp>
      <p:sp>
        <p:nvSpPr>
          <p:cNvPr id="77" name="Google Shape;77;p16"/>
          <p:cNvSpPr/>
          <p:nvPr/>
        </p:nvSpPr>
        <p:spPr>
          <a:xfrm>
            <a:off x="7644425" y="115175"/>
            <a:ext cx="1391400" cy="2249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900">
                <a:latin typeface="Inter"/>
                <a:ea typeface="Inter"/>
                <a:cs typeface="Inter"/>
                <a:sym typeface="Inter"/>
              </a:rPr>
              <a:t>Présentez brièvement le contexte de l'association Avenirs et les problèmes actuels qu'elle rencontre, soulignant la nécessité du nouveau site web pour améliorer son fonctionnement.</a:t>
            </a:r>
            <a:endParaRPr sz="900">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idx="1" type="body"/>
          </p:nvPr>
        </p:nvSpPr>
        <p:spPr>
          <a:xfrm>
            <a:off x="311700" y="14159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1"/>
              </a:solidFill>
              <a:latin typeface="Open Sans Medium"/>
              <a:ea typeface="Open Sans Medium"/>
              <a:cs typeface="Open Sans Medium"/>
              <a:sym typeface="Open Sans Medium"/>
            </a:endParaRPr>
          </a:p>
        </p:txBody>
      </p:sp>
      <p:sp>
        <p:nvSpPr>
          <p:cNvPr id="83" name="Google Shape;83;p17"/>
          <p:cNvSpPr txBox="1"/>
          <p:nvPr/>
        </p:nvSpPr>
        <p:spPr>
          <a:xfrm>
            <a:off x="311700" y="250575"/>
            <a:ext cx="74778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rPr b="1" lang="fr" sz="2600">
                <a:solidFill>
                  <a:schemeClr val="dk1"/>
                </a:solidFill>
                <a:latin typeface="Space Mono"/>
                <a:ea typeface="Space Mono"/>
                <a:cs typeface="Space Mono"/>
                <a:sym typeface="Space Mono"/>
              </a:rPr>
              <a:t>Objectifs du projet</a:t>
            </a:r>
            <a:endParaRPr b="1" sz="2600">
              <a:solidFill>
                <a:schemeClr val="dk1"/>
              </a:solidFill>
              <a:latin typeface="Space Mono"/>
              <a:ea typeface="Space Mono"/>
              <a:cs typeface="Space Mono"/>
              <a:sym typeface="Space Mono"/>
            </a:endParaRPr>
          </a:p>
        </p:txBody>
      </p:sp>
      <p:sp>
        <p:nvSpPr>
          <p:cNvPr id="84" name="Google Shape;84;p17"/>
          <p:cNvSpPr txBox="1"/>
          <p:nvPr/>
        </p:nvSpPr>
        <p:spPr>
          <a:xfrm>
            <a:off x="311700" y="701513"/>
            <a:ext cx="63906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t/>
            </a:r>
            <a:endParaRPr>
              <a:solidFill>
                <a:schemeClr val="dk1"/>
              </a:solidFill>
              <a:latin typeface="Open Sans SemiBold"/>
              <a:ea typeface="Open Sans SemiBold"/>
              <a:cs typeface="Open Sans SemiBold"/>
              <a:sym typeface="Open Sans SemiBold"/>
            </a:endParaRPr>
          </a:p>
        </p:txBody>
      </p:sp>
      <p:sp>
        <p:nvSpPr>
          <p:cNvPr id="85" name="Google Shape;85;p17"/>
          <p:cNvSpPr/>
          <p:nvPr/>
        </p:nvSpPr>
        <p:spPr>
          <a:xfrm>
            <a:off x="7644425" y="115175"/>
            <a:ext cx="1391400" cy="2249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900">
                <a:latin typeface="Inter"/>
                <a:ea typeface="Inter"/>
                <a:cs typeface="Inter"/>
                <a:sym typeface="Inter"/>
              </a:rPr>
              <a:t>Décrivez les objectifs principaux du site, en mettant l'accent sur la manière dont elle aidera l'association à mieux servir ses utilisateurs et à atteindre ses objectifs.</a:t>
            </a:r>
            <a:endParaRPr sz="900">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idx="1" type="body"/>
          </p:nvPr>
        </p:nvSpPr>
        <p:spPr>
          <a:xfrm>
            <a:off x="311700" y="14159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1"/>
              </a:solidFill>
              <a:latin typeface="Open Sans Medium"/>
              <a:ea typeface="Open Sans Medium"/>
              <a:cs typeface="Open Sans Medium"/>
              <a:sym typeface="Open Sans Medium"/>
            </a:endParaRPr>
          </a:p>
        </p:txBody>
      </p:sp>
      <p:sp>
        <p:nvSpPr>
          <p:cNvPr id="91" name="Google Shape;91;p18"/>
          <p:cNvSpPr txBox="1"/>
          <p:nvPr/>
        </p:nvSpPr>
        <p:spPr>
          <a:xfrm>
            <a:off x="311700" y="250575"/>
            <a:ext cx="77217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rPr b="1" lang="fr" sz="2600">
                <a:solidFill>
                  <a:schemeClr val="dk1"/>
                </a:solidFill>
                <a:latin typeface="Space Mono"/>
                <a:ea typeface="Space Mono"/>
                <a:cs typeface="Space Mono"/>
                <a:sym typeface="Space Mono"/>
              </a:rPr>
              <a:t>Fonctionnalités du site</a:t>
            </a:r>
            <a:endParaRPr b="1" sz="2600">
              <a:solidFill>
                <a:schemeClr val="dk1"/>
              </a:solidFill>
              <a:latin typeface="Space Mono"/>
              <a:ea typeface="Space Mono"/>
              <a:cs typeface="Space Mono"/>
              <a:sym typeface="Space Mono"/>
            </a:endParaRPr>
          </a:p>
        </p:txBody>
      </p:sp>
      <p:sp>
        <p:nvSpPr>
          <p:cNvPr id="92" name="Google Shape;92;p18"/>
          <p:cNvSpPr txBox="1"/>
          <p:nvPr/>
        </p:nvSpPr>
        <p:spPr>
          <a:xfrm>
            <a:off x="311700" y="701513"/>
            <a:ext cx="63906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t/>
            </a:r>
            <a:endParaRPr>
              <a:solidFill>
                <a:schemeClr val="dk1"/>
              </a:solidFill>
              <a:latin typeface="Open Sans SemiBold"/>
              <a:ea typeface="Open Sans SemiBold"/>
              <a:cs typeface="Open Sans SemiBold"/>
              <a:sym typeface="Open Sans SemiBold"/>
            </a:endParaRPr>
          </a:p>
        </p:txBody>
      </p:sp>
      <p:sp>
        <p:nvSpPr>
          <p:cNvPr id="93" name="Google Shape;93;p18"/>
          <p:cNvSpPr/>
          <p:nvPr/>
        </p:nvSpPr>
        <p:spPr>
          <a:xfrm>
            <a:off x="7631250" y="134925"/>
            <a:ext cx="1391400" cy="2249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900">
                <a:latin typeface="Inter"/>
                <a:ea typeface="Inter"/>
                <a:cs typeface="Inter"/>
                <a:sym typeface="Inter"/>
              </a:rPr>
              <a:t>Mettez en évidence les fonctionnalités principales du site, en expliquant comment elles répondent aux besoins des utilisateurs, qu'il s'agisse des tuteurs ou des apprenants, et en soulignant les avantages spécifiques qu'elles apporteront.</a:t>
            </a:r>
            <a:endParaRPr sz="900">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idx="1" type="body"/>
          </p:nvPr>
        </p:nvSpPr>
        <p:spPr>
          <a:xfrm>
            <a:off x="311700" y="14159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1"/>
              </a:solidFill>
              <a:latin typeface="Open Sans Medium"/>
              <a:ea typeface="Open Sans Medium"/>
              <a:cs typeface="Open Sans Medium"/>
              <a:sym typeface="Open Sans Medium"/>
            </a:endParaRPr>
          </a:p>
        </p:txBody>
      </p:sp>
      <p:sp>
        <p:nvSpPr>
          <p:cNvPr id="99" name="Google Shape;99;p19"/>
          <p:cNvSpPr txBox="1"/>
          <p:nvPr/>
        </p:nvSpPr>
        <p:spPr>
          <a:xfrm>
            <a:off x="311700" y="250575"/>
            <a:ext cx="77217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rPr b="1" lang="fr" sz="2600">
                <a:solidFill>
                  <a:schemeClr val="dk1"/>
                </a:solidFill>
                <a:latin typeface="Space Mono"/>
                <a:ea typeface="Space Mono"/>
                <a:cs typeface="Space Mono"/>
                <a:sym typeface="Space Mono"/>
              </a:rPr>
              <a:t>Interface utilisateur</a:t>
            </a:r>
            <a:endParaRPr b="1" sz="2600">
              <a:solidFill>
                <a:schemeClr val="dk1"/>
              </a:solidFill>
              <a:latin typeface="Space Mono"/>
              <a:ea typeface="Space Mono"/>
              <a:cs typeface="Space Mono"/>
              <a:sym typeface="Space Mono"/>
            </a:endParaRPr>
          </a:p>
        </p:txBody>
      </p:sp>
      <p:sp>
        <p:nvSpPr>
          <p:cNvPr id="100" name="Google Shape;100;p19"/>
          <p:cNvSpPr txBox="1"/>
          <p:nvPr/>
        </p:nvSpPr>
        <p:spPr>
          <a:xfrm>
            <a:off x="311700" y="701513"/>
            <a:ext cx="63906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t/>
            </a:r>
            <a:endParaRPr>
              <a:solidFill>
                <a:schemeClr val="dk1"/>
              </a:solidFill>
              <a:latin typeface="Open Sans SemiBold"/>
              <a:ea typeface="Open Sans SemiBold"/>
              <a:cs typeface="Open Sans SemiBold"/>
              <a:sym typeface="Open Sans SemiBold"/>
            </a:endParaRPr>
          </a:p>
        </p:txBody>
      </p:sp>
      <p:sp>
        <p:nvSpPr>
          <p:cNvPr id="101" name="Google Shape;101;p19"/>
          <p:cNvSpPr/>
          <p:nvPr/>
        </p:nvSpPr>
        <p:spPr>
          <a:xfrm>
            <a:off x="7631250" y="134925"/>
            <a:ext cx="1391400" cy="2249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900">
                <a:latin typeface="Inter"/>
                <a:ea typeface="Inter"/>
                <a:cs typeface="Inter"/>
                <a:sym typeface="Inter"/>
              </a:rPr>
              <a:t>Utilisez des wireframes et des maquettes pour illustrer le flux d'interaction du site, en mettant en évidence la convivialité de l'interface et en expliquant comment elle améliorera l'expérience globale des utilisateurs.</a:t>
            </a:r>
            <a:endParaRPr sz="900">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idx="1" type="body"/>
          </p:nvPr>
        </p:nvSpPr>
        <p:spPr>
          <a:xfrm>
            <a:off x="311700" y="14159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1"/>
              </a:solidFill>
              <a:latin typeface="Open Sans Medium"/>
              <a:ea typeface="Open Sans Medium"/>
              <a:cs typeface="Open Sans Medium"/>
              <a:sym typeface="Open Sans Medium"/>
            </a:endParaRPr>
          </a:p>
        </p:txBody>
      </p:sp>
      <p:sp>
        <p:nvSpPr>
          <p:cNvPr id="107" name="Google Shape;107;p20"/>
          <p:cNvSpPr txBox="1"/>
          <p:nvPr/>
        </p:nvSpPr>
        <p:spPr>
          <a:xfrm>
            <a:off x="311700" y="250575"/>
            <a:ext cx="77217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rPr b="1" lang="fr" sz="2600">
                <a:solidFill>
                  <a:schemeClr val="dk1"/>
                </a:solidFill>
                <a:latin typeface="Space Mono"/>
                <a:ea typeface="Space Mono"/>
                <a:cs typeface="Space Mono"/>
                <a:sym typeface="Space Mono"/>
              </a:rPr>
              <a:t>Sécurité des données</a:t>
            </a:r>
            <a:endParaRPr b="1" sz="2600">
              <a:solidFill>
                <a:schemeClr val="dk1"/>
              </a:solidFill>
              <a:latin typeface="Space Mono"/>
              <a:ea typeface="Space Mono"/>
              <a:cs typeface="Space Mono"/>
              <a:sym typeface="Space Mono"/>
            </a:endParaRPr>
          </a:p>
        </p:txBody>
      </p:sp>
      <p:sp>
        <p:nvSpPr>
          <p:cNvPr id="108" name="Google Shape;108;p20"/>
          <p:cNvSpPr txBox="1"/>
          <p:nvPr/>
        </p:nvSpPr>
        <p:spPr>
          <a:xfrm>
            <a:off x="311700" y="701513"/>
            <a:ext cx="63906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t/>
            </a:r>
            <a:endParaRPr>
              <a:solidFill>
                <a:schemeClr val="dk1"/>
              </a:solidFill>
              <a:latin typeface="Open Sans SemiBold"/>
              <a:ea typeface="Open Sans SemiBold"/>
              <a:cs typeface="Open Sans SemiBold"/>
              <a:sym typeface="Open Sans SemiBold"/>
            </a:endParaRPr>
          </a:p>
        </p:txBody>
      </p:sp>
      <p:sp>
        <p:nvSpPr>
          <p:cNvPr id="109" name="Google Shape;109;p20"/>
          <p:cNvSpPr/>
          <p:nvPr/>
        </p:nvSpPr>
        <p:spPr>
          <a:xfrm>
            <a:off x="7631250" y="134925"/>
            <a:ext cx="1391400" cy="2249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900">
                <a:latin typeface="Inter"/>
                <a:ea typeface="Inter"/>
                <a:cs typeface="Inter"/>
                <a:sym typeface="Inter"/>
              </a:rPr>
              <a:t>Expliquez les mesures de sécurité que vous avez mises en place pour protéger les données sensibles des utilisateurs, en soulignant l'importance de la confidentialité et de la protection des informations personnelles.</a:t>
            </a:r>
            <a:endParaRPr sz="900">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idx="1" type="body"/>
          </p:nvPr>
        </p:nvSpPr>
        <p:spPr>
          <a:xfrm>
            <a:off x="311700" y="14159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1"/>
              </a:solidFill>
              <a:latin typeface="Open Sans Medium"/>
              <a:ea typeface="Open Sans Medium"/>
              <a:cs typeface="Open Sans Medium"/>
              <a:sym typeface="Open Sans Medium"/>
            </a:endParaRPr>
          </a:p>
        </p:txBody>
      </p:sp>
      <p:sp>
        <p:nvSpPr>
          <p:cNvPr id="115" name="Google Shape;115;p21"/>
          <p:cNvSpPr txBox="1"/>
          <p:nvPr/>
        </p:nvSpPr>
        <p:spPr>
          <a:xfrm>
            <a:off x="311700" y="250575"/>
            <a:ext cx="77217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rPr b="1" lang="fr" sz="2600">
                <a:solidFill>
                  <a:schemeClr val="dk1"/>
                </a:solidFill>
                <a:latin typeface="Space Mono"/>
                <a:ea typeface="Space Mono"/>
                <a:cs typeface="Space Mono"/>
                <a:sym typeface="Space Mono"/>
              </a:rPr>
              <a:t>Plan de mise en oeuvre</a:t>
            </a:r>
            <a:endParaRPr b="1" sz="2600">
              <a:solidFill>
                <a:schemeClr val="dk1"/>
              </a:solidFill>
              <a:latin typeface="Space Mono"/>
              <a:ea typeface="Space Mono"/>
              <a:cs typeface="Space Mono"/>
              <a:sym typeface="Space Mono"/>
            </a:endParaRPr>
          </a:p>
        </p:txBody>
      </p:sp>
      <p:sp>
        <p:nvSpPr>
          <p:cNvPr id="116" name="Google Shape;116;p21"/>
          <p:cNvSpPr txBox="1"/>
          <p:nvPr/>
        </p:nvSpPr>
        <p:spPr>
          <a:xfrm>
            <a:off x="311700" y="701513"/>
            <a:ext cx="63906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t/>
            </a:r>
            <a:endParaRPr>
              <a:solidFill>
                <a:schemeClr val="dk1"/>
              </a:solidFill>
              <a:latin typeface="Open Sans SemiBold"/>
              <a:ea typeface="Open Sans SemiBold"/>
              <a:cs typeface="Open Sans SemiBold"/>
              <a:sym typeface="Open Sans SemiBold"/>
            </a:endParaRPr>
          </a:p>
        </p:txBody>
      </p:sp>
      <p:sp>
        <p:nvSpPr>
          <p:cNvPr id="117" name="Google Shape;117;p21"/>
          <p:cNvSpPr/>
          <p:nvPr/>
        </p:nvSpPr>
        <p:spPr>
          <a:xfrm>
            <a:off x="7631250" y="134925"/>
            <a:ext cx="1391400" cy="2249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900">
                <a:latin typeface="Inter"/>
                <a:ea typeface="Inter"/>
                <a:cs typeface="Inter"/>
                <a:sym typeface="Inter"/>
              </a:rPr>
              <a:t>Présentez un plan de mise en œuvre détaillé, y compris les jalons clés, les délais prévus et les étapes du développement, pour donner une idée claire de la chronologie du projet.</a:t>
            </a:r>
            <a:endParaRPr sz="900">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idx="1" type="body"/>
          </p:nvPr>
        </p:nvSpPr>
        <p:spPr>
          <a:xfrm>
            <a:off x="311700" y="14159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1"/>
              </a:solidFill>
              <a:latin typeface="Open Sans Medium"/>
              <a:ea typeface="Open Sans Medium"/>
              <a:cs typeface="Open Sans Medium"/>
              <a:sym typeface="Open Sans Medium"/>
            </a:endParaRPr>
          </a:p>
        </p:txBody>
      </p:sp>
      <p:sp>
        <p:nvSpPr>
          <p:cNvPr id="123" name="Google Shape;123;p22"/>
          <p:cNvSpPr txBox="1"/>
          <p:nvPr/>
        </p:nvSpPr>
        <p:spPr>
          <a:xfrm>
            <a:off x="311700" y="250575"/>
            <a:ext cx="77217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rPr b="1" lang="fr" sz="2600">
                <a:solidFill>
                  <a:schemeClr val="dk1"/>
                </a:solidFill>
                <a:latin typeface="Space Mono"/>
                <a:ea typeface="Space Mono"/>
                <a:cs typeface="Space Mono"/>
                <a:sym typeface="Space Mono"/>
              </a:rPr>
              <a:t>Questions et réponses</a:t>
            </a:r>
            <a:endParaRPr b="1" sz="2600">
              <a:solidFill>
                <a:schemeClr val="dk1"/>
              </a:solidFill>
              <a:latin typeface="Space Mono"/>
              <a:ea typeface="Space Mono"/>
              <a:cs typeface="Space Mono"/>
              <a:sym typeface="Space Mono"/>
            </a:endParaRPr>
          </a:p>
        </p:txBody>
      </p:sp>
      <p:sp>
        <p:nvSpPr>
          <p:cNvPr id="124" name="Google Shape;124;p22"/>
          <p:cNvSpPr txBox="1"/>
          <p:nvPr/>
        </p:nvSpPr>
        <p:spPr>
          <a:xfrm>
            <a:off x="311700" y="701513"/>
            <a:ext cx="6390600" cy="4296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0"/>
              </a:spcBef>
              <a:spcAft>
                <a:spcPts val="0"/>
              </a:spcAft>
              <a:buNone/>
            </a:pPr>
            <a:r>
              <a:t/>
            </a:r>
            <a:endParaRPr>
              <a:solidFill>
                <a:schemeClr val="dk1"/>
              </a:solidFill>
              <a:latin typeface="Open Sans SemiBold"/>
              <a:ea typeface="Open Sans SemiBold"/>
              <a:cs typeface="Open Sans SemiBold"/>
              <a:sym typeface="Open Sans SemiBold"/>
            </a:endParaRPr>
          </a:p>
        </p:txBody>
      </p:sp>
      <p:sp>
        <p:nvSpPr>
          <p:cNvPr id="125" name="Google Shape;125;p22"/>
          <p:cNvSpPr/>
          <p:nvPr/>
        </p:nvSpPr>
        <p:spPr>
          <a:xfrm>
            <a:off x="7631250" y="134925"/>
            <a:ext cx="1391400" cy="2249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900">
                <a:latin typeface="Inter"/>
                <a:ea typeface="Inter"/>
                <a:cs typeface="Inter"/>
                <a:sym typeface="Inter"/>
              </a:rPr>
              <a:t>Laissez cette diapositive vide. </a:t>
            </a:r>
            <a:br>
              <a:rPr lang="fr" sz="900">
                <a:latin typeface="Inter"/>
                <a:ea typeface="Inter"/>
                <a:cs typeface="Inter"/>
                <a:sym typeface="Inter"/>
              </a:rPr>
            </a:br>
            <a:br>
              <a:rPr lang="fr" sz="900">
                <a:latin typeface="Inter"/>
                <a:ea typeface="Inter"/>
                <a:cs typeface="Inter"/>
                <a:sym typeface="Inter"/>
              </a:rPr>
            </a:br>
            <a:r>
              <a:rPr lang="fr" sz="900">
                <a:latin typeface="Inter"/>
                <a:ea typeface="Inter"/>
                <a:cs typeface="Inter"/>
                <a:sym typeface="Inter"/>
              </a:rPr>
              <a:t>Préparez-vous à répondre aux questions du client en anticipant les préoccupations potentielles et en offrant des solutions ou des clarifications appropriées pour renforcer la confiance du client dans la viabilité du projet.</a:t>
            </a:r>
            <a:endParaRPr sz="900">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129" name="Shape 129"/>
        <p:cNvGrpSpPr/>
        <p:nvPr/>
      </p:nvGrpSpPr>
      <p:grpSpPr>
        <a:xfrm>
          <a:off x="0" y="0"/>
          <a:ext cx="0" cy="0"/>
          <a:chOff x="0" y="0"/>
          <a:chExt cx="0" cy="0"/>
        </a:xfrm>
      </p:grpSpPr>
      <p:pic>
        <p:nvPicPr>
          <p:cNvPr id="130" name="Google Shape;130;p23"/>
          <p:cNvPicPr preferRelativeResize="0"/>
          <p:nvPr/>
        </p:nvPicPr>
        <p:blipFill>
          <a:blip r:embed="rId3">
            <a:alphaModFix/>
          </a:blip>
          <a:stretch>
            <a:fillRect/>
          </a:stretch>
        </p:blipFill>
        <p:spPr>
          <a:xfrm>
            <a:off x="2749021" y="1823576"/>
            <a:ext cx="3645957" cy="909714"/>
          </a:xfrm>
          <a:prstGeom prst="rect">
            <a:avLst/>
          </a:prstGeom>
          <a:noFill/>
          <a:ln>
            <a:noFill/>
          </a:ln>
        </p:spPr>
      </p:pic>
      <p:sp>
        <p:nvSpPr>
          <p:cNvPr id="131" name="Google Shape;131;p23"/>
          <p:cNvSpPr/>
          <p:nvPr/>
        </p:nvSpPr>
        <p:spPr>
          <a:xfrm>
            <a:off x="2749052" y="4215425"/>
            <a:ext cx="3645900" cy="375900"/>
          </a:xfrm>
          <a:prstGeom prst="rect">
            <a:avLst/>
          </a:prstGeom>
          <a:solidFill>
            <a:srgbClr val="00000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23"/>
          <p:cNvSpPr txBox="1"/>
          <p:nvPr/>
        </p:nvSpPr>
        <p:spPr>
          <a:xfrm>
            <a:off x="3060275" y="4234025"/>
            <a:ext cx="3023700" cy="3387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fr" sz="1300">
                <a:solidFill>
                  <a:schemeClr val="lt1"/>
                </a:solidFill>
                <a:latin typeface="Space Mono"/>
                <a:ea typeface="Space Mono"/>
                <a:cs typeface="Space Mono"/>
                <a:sym typeface="Space Mono"/>
              </a:rPr>
              <a:t>MERCI</a:t>
            </a:r>
            <a:endParaRPr sz="1300">
              <a:solidFill>
                <a:schemeClr val="lt1"/>
              </a:solidFill>
              <a:latin typeface="Space Mono"/>
              <a:ea typeface="Space Mono"/>
              <a:cs typeface="Space Mono"/>
              <a:sym typeface="Space Mon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